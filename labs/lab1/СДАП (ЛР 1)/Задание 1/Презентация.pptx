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9ace50a1fcca257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9ace50a1fcca257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b059990a927fb83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b059990a927fb83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b059990a927fb83_4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b059990a927fb83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b059990a927fb83_4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b059990a927fb83_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b059990a927fb83_4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b059990a927fb83_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b059990a927fb83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b059990a927fb83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b059990a927fb83_4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b059990a927fb83_4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b059990a927fb83_4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b059990a927fb83_4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b059990a927fb83_4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b059990a927fb83_4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813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Нелинейные динамические структуры данных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81300" y="1822225"/>
            <a:ext cx="4732800" cy="8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Дерево &amp; Граф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Определения &amp; Операции &amp; Примеры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81300" y="2609275"/>
            <a:ext cx="519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Автор: Студент группы ЗОМ34-ПВШ261 Золотухин Андрей МПГУ, 2026 | Язык примеров: С++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81300" y="3255775"/>
            <a:ext cx="275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СДАП | Лабораторная работа 1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25" y="500925"/>
            <a:ext cx="3706500" cy="14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Нелинейные динамические структуры данных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155575" y="1889350"/>
            <a:ext cx="40188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отличие от линейных структур (массив, список, стек, очередь), элементы нелинейных структур могут иметь более одного предшественника или преемника. Они позволяют эффективно представлять иерархические и сетевые отношения.</a:t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447225" y="1732025"/>
            <a:ext cx="22110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Дерево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Иерархическая структура. Один корень, каждый узел имеет ноль или более потомков. Нет циклов.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Применение: файловые системы, DOM, бинарные деревья поиска, синтаксические деревья, кучи.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225" y="337776"/>
            <a:ext cx="2211000" cy="1241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1038" y="519449"/>
            <a:ext cx="1982775" cy="87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6931087" y="1732025"/>
            <a:ext cx="19827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Граф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Множество вершин и рёбер (или дуг). Может содержать циклы.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Применение: сети, маршруты, социальные связи, зависимости задач, веб-граф, алгоритмы кратчайшего пути.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8844900" y="4758600"/>
            <a:ext cx="21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200700" y="149400"/>
            <a:ext cx="3706500" cy="11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Дерево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1626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Ключевые свойства и операции</a:t>
            </a:r>
            <a:endParaRPr b="1" sz="1400">
              <a:solidFill>
                <a:srgbClr val="1626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6263D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rgbClr val="1626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иерархия: один родитель –&gt; ноль или более потомков;</a:t>
            </a:r>
            <a:endParaRPr sz="1400">
              <a:solidFill>
                <a:srgbClr val="1626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6263D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rgbClr val="1626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циклов, рекурсивная структура, корневой узел;</a:t>
            </a:r>
            <a:endParaRPr sz="1400">
              <a:solidFill>
                <a:srgbClr val="1626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6263D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rgbClr val="1626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операции: Insert, Delete, Search, Traverse (pre-/in-/post-order, level-order);</a:t>
            </a:r>
            <a:endParaRPr sz="1400">
              <a:solidFill>
                <a:srgbClr val="1626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6263D"/>
              </a:buClr>
              <a:buSzPts val="1400"/>
              <a:buFont typeface="Times New Roman"/>
              <a:buChar char="●"/>
            </a:pPr>
            <a:r>
              <a:rPr lang="ru" sz="1400">
                <a:solidFill>
                  <a:srgbClr val="1626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виды: бинарное, BST, AVL, красно-чёрное, куча (heap), B-дерево.</a:t>
            </a:r>
            <a:endParaRPr sz="1400">
              <a:solidFill>
                <a:srgbClr val="1626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200700" y="700050"/>
            <a:ext cx="41205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теории графов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связный неориентированный граф без циклов (или связный граф с минимальным числом рёбер). Число деревьев на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нумерованных вершинах = n^(n-2). Дерево с выделенной вершиной - </a:t>
            </a:r>
            <a:r>
              <a:rPr b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корневое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200700" y="2065000"/>
            <a:ext cx="4120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информатике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иерархическая структура связанных узлов. Есть корень, от которого отходят ветви. Рекурсивная природа: каждое поддерево тоже является деревом. Сбалансированные деревья дают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O(log n)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для поиска/вставки/удаления.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8835649" y="4758600"/>
            <a:ext cx="21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Узел бинарного дерева и вставка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8844900" y="4758600"/>
            <a:ext cx="21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675" y="0"/>
            <a:ext cx="4079950" cy="3768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6775" y="4359300"/>
            <a:ext cx="2194431" cy="70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7525" y="3876333"/>
            <a:ext cx="3974249" cy="3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1107300" y="611950"/>
            <a:ext cx="19464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Обход бинарного дерева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100" y="0"/>
            <a:ext cx="3459275" cy="46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475" y="4618254"/>
            <a:ext cx="7981051" cy="3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8844900" y="4758600"/>
            <a:ext cx="21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/>
        </p:nvSpPr>
        <p:spPr>
          <a:xfrm>
            <a:off x="-267250" y="500925"/>
            <a:ext cx="2425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 в бинарном дереве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300" y="198688"/>
            <a:ext cx="3410224" cy="31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4525" y="198700"/>
            <a:ext cx="3845076" cy="315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075" y="3692125"/>
            <a:ext cx="8679325" cy="66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253975" y="251150"/>
            <a:ext cx="3706500" cy="1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Граф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8844900" y="4758600"/>
            <a:ext cx="21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4644675" y="500925"/>
            <a:ext cx="41664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ru" sz="1320">
                <a:latin typeface="Times New Roman"/>
                <a:ea typeface="Times New Roman"/>
                <a:cs typeface="Times New Roman"/>
                <a:sym typeface="Times New Roman"/>
              </a:rPr>
              <a:t>Неориентированный</a:t>
            </a:r>
            <a:endParaRPr b="1" sz="13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ru" sz="1320">
                <a:solidFill>
                  <a:srgbClr val="5C64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Рёбра без направления. (u,v) = (v,u).</a:t>
            </a:r>
            <a:endParaRPr sz="1320">
              <a:solidFill>
                <a:srgbClr val="5C64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ru" sz="1320">
                <a:solidFill>
                  <a:srgbClr val="5C64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Примеры: соцсети, дорожные карты.</a:t>
            </a:r>
            <a:endParaRPr sz="1320">
              <a:solidFill>
                <a:srgbClr val="5C64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5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152875" y="834625"/>
            <a:ext cx="40242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Граф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G(V, E) - множество вершин V и множество рёбер E 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неупорядоченных 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пар) или дуг (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упорядоченных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Неориентированный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только рёбра; </a:t>
            </a:r>
            <a:r>
              <a:rPr b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ориентированный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только дуги. Возможны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кратные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рёбра и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петли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152875" y="2185275"/>
            <a:ext cx="39462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Вершины, соединённые ребром/дугой -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смежные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Ребро и его вершины -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инцидентны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Обход графа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маршрут с заданными свойствами. </a:t>
            </a:r>
            <a:r>
              <a:rPr i="1"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Расстояние </a:t>
            </a:r>
            <a:r>
              <a:rPr lang="ru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длина кратчайшей простой цепи.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644675" y="1571850"/>
            <a:ext cx="41664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ru">
                <a:latin typeface="Times New Roman"/>
                <a:ea typeface="Times New Roman"/>
                <a:cs typeface="Times New Roman"/>
                <a:sym typeface="Times New Roman"/>
              </a:rPr>
              <a:t>О</a:t>
            </a:r>
            <a:r>
              <a:rPr b="1" lang="ru">
                <a:latin typeface="Times New Roman"/>
                <a:ea typeface="Times New Roman"/>
                <a:cs typeface="Times New Roman"/>
                <a:sym typeface="Times New Roman"/>
              </a:rPr>
              <a:t>риентированный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5C64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Дуги с направлением. (u,v) ≠ (v,u).</a:t>
            </a:r>
            <a:endParaRPr>
              <a:solidFill>
                <a:srgbClr val="5C64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5C64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Примеры: веб-ссылки, зависимости задач.</a:t>
            </a:r>
            <a:endParaRPr>
              <a:solidFill>
                <a:srgbClr val="5C64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>
              <a:solidFill>
                <a:srgbClr val="5C64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4644675" y="2739175"/>
            <a:ext cx="42927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ru">
                <a:latin typeface="Times New Roman"/>
                <a:ea typeface="Times New Roman"/>
                <a:cs typeface="Times New Roman"/>
                <a:sym typeface="Times New Roman"/>
              </a:rPr>
              <a:t>Взвеше</a:t>
            </a:r>
            <a:r>
              <a:rPr b="1" lang="ru">
                <a:latin typeface="Times New Roman"/>
                <a:ea typeface="Times New Roman"/>
                <a:cs typeface="Times New Roman"/>
                <a:sym typeface="Times New Roman"/>
              </a:rPr>
              <a:t>нный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5C64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Рёбра имеют вес.</a:t>
            </a:r>
            <a:endParaRPr>
              <a:solidFill>
                <a:srgbClr val="5C64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5C64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Алгоритмы: алгоритмы Дейкстры, Прима, Краскала.</a:t>
            </a:r>
            <a:endParaRPr>
              <a:solidFill>
                <a:srgbClr val="5C64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>
              <a:solidFill>
                <a:srgbClr val="5C64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Добавление ребра в граф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8844900" y="4758600"/>
            <a:ext cx="21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75" y="4089825"/>
            <a:ext cx="6599725" cy="9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5225" y="0"/>
            <a:ext cx="3083101" cy="40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0" y="297375"/>
            <a:ext cx="22332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Обход графа в ширину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350" y="453300"/>
            <a:ext cx="3677499" cy="294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6850" y="453288"/>
            <a:ext cx="2752776" cy="29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612437"/>
            <a:ext cx="8839201" cy="53428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8844900" y="4758600"/>
            <a:ext cx="21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/>
        </p:nvSpPr>
        <p:spPr>
          <a:xfrm>
            <a:off x="2841075" y="1944750"/>
            <a:ext cx="359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